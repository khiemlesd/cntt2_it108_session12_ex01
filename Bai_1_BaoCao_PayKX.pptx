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(triệu đồng)</c:v>
                </c:pt>
              </c:strCache>
            </c:strRef>
          </c:tx>
          <c:spPr>
            <a:solidFill>
              <a:srgbClr val="8E86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F1B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7A1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T5</c:v>
                  </c:pt>
                  <c:pt idx="1">
                    <c:v>T6</c:v>
                  </c:pt>
                  <c:pt idx="2">
                    <c:v>T7</c:v>
                  </c:pt>
                  <c:pt idx="3">
                    <c:v>T8</c:v>
                  </c:pt>
                  <c:pt idx="4">
                    <c:v>T9</c:v>
                  </c:pt>
                  <c:pt idx="5">
                    <c:v>T10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770</c:v>
                </c:pt>
                <c:pt idx="1">
                  <c:v>805</c:v>
                </c:pt>
                <c:pt idx="2">
                  <c:v>743</c:v>
                </c:pt>
                <c:pt idx="3">
                  <c:v>900</c:v>
                </c:pt>
                <c:pt idx="4">
                  <c:v>955</c:v>
                </c:pt>
                <c:pt idx="5">
                  <c:v>1098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3000" u="none">
                  <a:solidFill>
                    <a:srgbClr val="1F1B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Tháng 9</c:v>
                </c:pt>
              </c:strCache>
            </c:strRef>
          </c:tx>
          <c:spPr>
            <a:solidFill>
              <a:srgbClr val="8E86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F1B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Nạp ĐT</c:v>
                  </c:pt>
                  <c:pt idx="1">
                    <c:v>Chuyển tiền</c:v>
                  </c:pt>
                  <c:pt idx="2">
                    <c:v>Học phí</c:v>
                  </c:pt>
                  <c:pt idx="3">
                    <c:v>Ăn uống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</c:v>
                </c:pt>
                <c:pt idx="1">
                  <c:v>350</c:v>
                </c:pt>
                <c:pt idx="2">
                  <c:v>260</c:v>
                </c:pt>
                <c:pt idx="3">
                  <c:v>135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Tháng 10</c:v>
                </c:pt>
              </c:strCache>
            </c:strRef>
          </c:tx>
          <c:spPr>
            <a:solidFill>
              <a:srgbClr val="FF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F1B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Nạp ĐT</c:v>
                  </c:pt>
                  <c:pt idx="1">
                    <c:v>Chuyển tiền</c:v>
                  </c:pt>
                  <c:pt idx="2">
                    <c:v>Học phí</c:v>
                  </c:pt>
                  <c:pt idx="3">
                    <c:v>Ăn uống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345</c:v>
                </c:pt>
                <c:pt idx="1">
                  <c:v>355</c:v>
                </c:pt>
                <c:pt idx="2">
                  <c:v>262</c:v>
                </c:pt>
                <c:pt idx="3">
                  <c:v>136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3000" u="none">
                  <a:solidFill>
                    <a:srgbClr val="1F1B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3000">
              <a:solidFill>
                <a:srgbClr val="1F1B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Mức tăng (triệu đồng)</c:v>
                </c:pt>
              </c:strCache>
            </c:strRef>
          </c:tx>
          <c:spPr>
            <a:solidFill>
              <a:srgbClr val="FF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F1B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Nạp ĐT</c:v>
                  </c:pt>
                  <c:pt idx="1">
                    <c:v>Chuyển tiền</c:v>
                  </c:pt>
                  <c:pt idx="2">
                    <c:v>Học phí</c:v>
                  </c:pt>
                  <c:pt idx="3">
                    <c:v>Ăn uống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3000" u="none">
                  <a:solidFill>
                    <a:srgbClr val="1F1B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Phí đối tác / doanh thu (%)</c:v>
                </c:pt>
              </c:strCache>
            </c:strRef>
          </c:tx>
          <c:spPr>
            <a:solidFill>
              <a:srgbClr val="5B3FD0"/>
            </a:solidFill>
            <a:ln w="50800" cap="flat">
              <a:solidFill>
                <a:srgbClr val="5B3FD0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F1B3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4"/>
            <c:spPr>
              <a:solidFill>
                <a:srgbClr val="5B3FD0"/>
              </a:solidFill>
              <a:ln w="9525" cap="flat">
                <a:solidFill>
                  <a:srgbClr val="5B3F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T5</c:v>
                  </c:pt>
                  <c:pt idx="1">
                    <c:v>T6</c:v>
                  </c:pt>
                  <c:pt idx="2">
                    <c:v>T7</c:v>
                  </c:pt>
                  <c:pt idx="3">
                    <c:v>T8</c:v>
                  </c:pt>
                  <c:pt idx="4">
                    <c:v>T9</c:v>
                  </c:pt>
                  <c:pt idx="5">
                    <c:v>T10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40.3</c:v>
                </c:pt>
                <c:pt idx="1">
                  <c:v>39.8</c:v>
                </c:pt>
                <c:pt idx="2">
                  <c:v>40.4</c:v>
                </c:pt>
                <c:pt idx="3">
                  <c:v>38.9</c:v>
                </c:pt>
                <c:pt idx="4">
                  <c:v>38.7</c:v>
                </c:pt>
                <c:pt idx="5">
                  <c:v>37.3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3000" u="none">
                  <a:solidFill>
                    <a:srgbClr val="1F1B3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3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Lợi nhuận (triệu đồng)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;-#,##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F1B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A3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2A3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2A38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T5</c:v>
                  </c:pt>
                  <c:pt idx="1">
                    <c:v>T6</c:v>
                  </c:pt>
                  <c:pt idx="2">
                    <c:v>T7</c:v>
                  </c:pt>
                  <c:pt idx="3">
                    <c:v>T8</c:v>
                  </c:pt>
                  <c:pt idx="4">
                    <c:v>T9</c:v>
                  </c:pt>
                  <c:pt idx="5">
                    <c:v>T10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-60</c:v>
                </c:pt>
                <c:pt idx="1">
                  <c:v>-55</c:v>
                </c:pt>
                <c:pt idx="2">
                  <c:v>-77</c:v>
                </c:pt>
                <c:pt idx="3">
                  <c:v>10</c:v>
                </c:pt>
                <c:pt idx="4">
                  <c:v>25</c:v>
                </c:pt>
                <c:pt idx="5">
                  <c:v>48</c:v>
                </c:pt>
              </c:numCache>
            </c:numRef>
          </c:val>
        </c:ser>
        <c:dLbls>
          <c:numFmt formatCode="#,##0;-#,##0" sourceLinked="0"/>
          <c:txPr>
            <a:bodyPr/>
            <a:lstStyle/>
            <a:p>
              <a:pPr>
                <a:defRPr b="0" i="0" strike="noStrike" sz="3000" u="none">
                  <a:solidFill>
                    <a:srgbClr val="1F1B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Tháng 10 (triệu đồng)</c:v>
                </c:pt>
              </c:strCache>
            </c:strRef>
          </c:tx>
          <c:spPr>
            <a:solidFill>
              <a:srgbClr val="5B3F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F1B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3F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86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7A1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Doanh thu</c:v>
                  </c:pt>
                  <c:pt idx="1">
                    <c:v>Phí đối tác</c:v>
                  </c:pt>
                  <c:pt idx="2">
                    <c:v>Vận hành, ưu đãi</c:v>
                  </c:pt>
                  <c:pt idx="3">
                    <c:v>Lãi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1098</c:v>
                </c:pt>
                <c:pt idx="1">
                  <c:v>410</c:v>
                </c:pt>
                <c:pt idx="2">
                  <c:v>640</c:v>
                </c:pt>
                <c:pt idx="3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3000" u="none">
                  <a:solidFill>
                    <a:srgbClr val="1F1B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giao dịch</c:v>
                </c:pt>
              </c:strCache>
            </c:strRef>
          </c:tx>
          <c:spPr>
            <a:solidFill>
              <a:srgbClr val="12A3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F1B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A3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Khớp</c:v>
                  </c:pt>
                  <c:pt idx="1">
                    <c:v>Lệch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3000" u="none">
                  <a:solidFill>
                    <a:srgbClr val="1F1B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1B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E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463040"/>
            <a:ext cx="7498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411480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46304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PayKX lãi 48 triệu đồng trong tháng 10/2026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41148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</a:rPr>
              <a:t>Báo cáo lỗ lãi và đối soát tháng 10</a:t>
            </a:r>
            <a:endParaRPr lang="en-US" sz="3000" dirty="0"/>
          </a:p>
        </p:txBody>
      </p:sp>
      <p:sp>
        <p:nvSpPr>
          <p:cNvPr id="4" name="Lai thang 10"/>
          <p:cNvSpPr/>
          <p:nvPr/>
        </p:nvSpPr>
        <p:spPr>
          <a:xfrm>
            <a:off x="8595360" y="1828800"/>
            <a:ext cx="3108960" cy="31089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+48</a:t>
            </a:r>
            <a:endParaRPr lang="en-US" sz="6600" dirty="0"/>
          </a:p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triệu đồng</a:t>
            </a:r>
            <a:endParaRPr lang="en-US"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Doanh thu tháng 10 đạt 1.098 triệu đồng, tăng 15% so với tháng 9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Nạp điện thoại tăng 64% sau ưu đãi, các nhóm khác gần như đi ngang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737360"/>
          <a:ext cx="11064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Nạp điện thoại đóng góp 135 trên 143 triệu đồng doanh thu tăng thêm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Phí đối tác chỉ còn 37,3% doanh thu, thấp nhất trong 6 tháng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Lợi nhuận chuyển từ lỗ sang lãi từ tháng 8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Doanh thu 1.098 triệu đồng chỉ còn lại 48 triệu đồng lãi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29 trên 30 giao dịch khớp, 1 giao dịch cần ngân hàng xác nhận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Yêu cầu hoàn tiền được xử lý xong trong 24 giờ</a:t>
            </a:r>
            <a:endParaRPr lang="en-US" sz="3600" dirty="0"/>
          </a:p>
        </p:txBody>
      </p:sp>
      <p:sp>
        <p:nvSpPr>
          <p:cNvPr id="3" name="Buoc 1"/>
          <p:cNvSpPr/>
          <p:nvPr/>
        </p:nvSpPr>
        <p:spPr>
          <a:xfrm>
            <a:off x="548640" y="2011680"/>
            <a:ext cx="3200400" cy="164592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Gửi yêu cầu</a:t>
            </a:r>
            <a:endParaRPr lang="en-US" sz="3000" dirty="0"/>
          </a:p>
        </p:txBody>
      </p:sp>
      <p:sp>
        <p:nvSpPr>
          <p:cNvPr id="4" name="Mui ten 1"/>
          <p:cNvSpPr/>
          <p:nvPr/>
        </p:nvSpPr>
        <p:spPr>
          <a:xfrm>
            <a:off x="3840480" y="2606040"/>
            <a:ext cx="54864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uoc 2"/>
          <p:cNvSpPr/>
          <p:nvPr/>
        </p:nvSpPr>
        <p:spPr>
          <a:xfrm>
            <a:off x="4480560" y="2011680"/>
            <a:ext cx="3200400" cy="164592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Kiểm tra điều kiện</a:t>
            </a:r>
            <a:endParaRPr lang="en-US" sz="3000" dirty="0"/>
          </a:p>
        </p:txBody>
      </p:sp>
      <p:sp>
        <p:nvSpPr>
          <p:cNvPr id="6" name="Mui ten 2"/>
          <p:cNvSpPr/>
          <p:nvPr/>
        </p:nvSpPr>
        <p:spPr>
          <a:xfrm>
            <a:off x="7772400" y="2606040"/>
            <a:ext cx="54864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Buoc 3"/>
          <p:cNvSpPr/>
          <p:nvPr/>
        </p:nvSpPr>
        <p:spPr>
          <a:xfrm>
            <a:off x="8412480" y="2011680"/>
            <a:ext cx="3200400" cy="164592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Hoàn về nguồn gốc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000" dirty="0">
                <a:solidFill>
                  <a:schemeClr val="tx1"/>
                </a:solidFill>
              </a:rPr>
              <a:t>Dưới 500.000 đồng được duyệt tự động</a:t>
            </a:r>
            <a:endParaRPr lang="en-US" sz="30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3000" dirty="0">
                <a:solidFill>
                  <a:schemeClr val="tx1"/>
                </a:solidFill>
              </a:rPr>
              <a:t>Hoàn tất trong 24 giờ kể từ khi duyệt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Tháng 11 cần giữ đà lãi và giảm sai lệch đối soát</a:t>
            </a:r>
            <a:endParaRPr lang="en-US" sz="3600" dirty="0"/>
          </a:p>
        </p:txBody>
      </p:sp>
      <p:sp>
        <p:nvSpPr>
          <p:cNvPr id="3" name="So 1"/>
          <p:cNvSpPr/>
          <p:nvPr/>
        </p:nvSpPr>
        <p:spPr>
          <a:xfrm>
            <a:off x="548640" y="20116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20116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Giữ ưu đãi nạp điện thoại</a:t>
            </a:r>
            <a:endParaRPr lang="en-US" sz="3000" dirty="0"/>
          </a:p>
        </p:txBody>
      </p:sp>
      <p:sp>
        <p:nvSpPr>
          <p:cNvPr id="5" name="So 2"/>
          <p:cNvSpPr/>
          <p:nvPr/>
        </p:nvSpPr>
        <p:spPr>
          <a:xfrm>
            <a:off x="548640" y="34747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34747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Đàm phán lại phí với ngân hàng</a:t>
            </a:r>
            <a:endParaRPr lang="en-US" sz="3000" dirty="0"/>
          </a:p>
        </p:txBody>
      </p:sp>
      <p:sp>
        <p:nvSpPr>
          <p:cNvPr id="7" name="So 3"/>
          <p:cNvSpPr/>
          <p:nvPr/>
        </p:nvSpPr>
        <p:spPr>
          <a:xfrm>
            <a:off x="548640" y="49377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49377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Làm sạch mã bằng TRIM trước khi đối soát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KX">
  <a:themeElements>
    <a:clrScheme name="PayKX">
      <a:dk1>
        <a:srgbClr val="1F1B3A"/>
      </a:dk1>
      <a:lt1>
        <a:srgbClr val="FFFFFF"/>
      </a:lt1>
      <a:dk2>
        <a:srgbClr val="3B2A7A"/>
      </a:dk2>
      <a:lt2>
        <a:srgbClr val="F3F0FA"/>
      </a:lt2>
      <a:accent1>
        <a:srgbClr val="5B3FD0"/>
      </a:accent1>
      <a:accent2>
        <a:srgbClr val="FF7A1A"/>
      </a:accent2>
      <a:accent3>
        <a:srgbClr val="12A38A"/>
      </a:accent3>
      <a:accent4>
        <a:srgbClr val="D64545"/>
      </a:accent4>
      <a:accent5>
        <a:srgbClr val="8E86B5"/>
      </a:accent5>
      <a:accent6>
        <a:srgbClr val="F2B134"/>
      </a:accent6>
      <a:hlink>
        <a:srgbClr val="5B3FD0"/>
      </a:hlink>
      <a:folHlink>
        <a:srgbClr val="8E86B5"/>
      </a:folHlink>
    </a:clrScheme>
    <a:fontScheme name="PayK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PayKX báo cáo lỗ lãi tháng 10/2026</dc:title>
  <dc:subject>PptxGenJS Presentation</dc:subject>
  <dc:creator>PptxGenJS</dc:creator>
  <cp:lastModifiedBy>PptxGenJS</cp:lastModifiedBy>
  <cp:revision>1</cp:revision>
  <dcterms:created xsi:type="dcterms:W3CDTF">2026-10-27T10:08:52Z</dcterms:created>
  <dcterms:modified xsi:type="dcterms:W3CDTF">2026-10-27T10:08:52Z</dcterms:modified>
</cp:coreProperties>
</file>