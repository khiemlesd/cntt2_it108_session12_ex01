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ở đầu" id="{69483405-7D2D-87EE-BAE8-56DF68DB8359}">
          <p14:sldIdLst>
            <p14:sldId id="256"/>
          </p14:sldIdLst>
        </p14:section>
        <p14:section name="Kết quả tháng 05/2024" id="{C5D80996-43A2-990C-8456-905F97C9B75E}">
          <p14:sldIdLst>
            <p14:sldId id="257"/>
            <p14:sldId id="258"/>
            <p14:sldId id="259"/>
          </p14:sldIdLst>
        </p14:section>
        <p14:section name="Phí đối tác ngân hàng" id="{35F1C6D0-EFA5-E211-48C7-7F0B2B5D33F3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vi-VN"/>
  <c:roundedCorners val="1"/>
  <c:style val="2"/>
  <c:chart>
    <c:title>
      <c:tx>
        <c:rich>
          <a:bodyPr/>
          <a:lstStyle/>
          <a:p>
            <a:pPr>
              <a:defRPr sz="3000" b="0" i="0" u="none" strike="noStrike">
                <a:solidFill>
                  <a:srgbClr val="1B1F3B"/>
                </a:solidFill>
                <a:latin typeface="+mn-lt"/>
              </a:defRPr>
            </a:pPr>
            <a:r>
              <a:rPr lang="en-US" sz="3000" b="0" i="0" u="none" strike="noStrike">
                <a:solidFill>
                  <a:srgbClr val="1B1F3B"/>
                </a:solidFill>
                <a:latin typeface="+mn-lt"/>
              </a:rPr>
              <a:t>Doanh thu thuần (tỷ VND)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 thuần (tỷ VND)</c:v>
                </c:pt>
              </c:strCache>
            </c:strRef>
          </c:tx>
          <c:spPr>
            <a:solidFill>
              <a:srgbClr val="9AA0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740-4CFA-971B-9F1DC88C199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740-4CFA-971B-9F1DC88C199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740-4CFA-971B-9F1DC88C199D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C740-4CFA-971B-9F1DC88C199D}"/>
              </c:ext>
            </c:extLst>
          </c:dPt>
          <c:dPt>
            <c:idx val="4"/>
            <c:invertIfNegative val="0"/>
            <c:bubble3D val="0"/>
            <c:spPr>
              <a:solidFill>
                <a:srgbClr val="F276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740-4CFA-971B-9F1DC88C199D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3000" b="1" i="0" u="none" strike="noStrike">
                    <a:solidFill>
                      <a:srgbClr val="1B1F3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T01</c:v>
                </c:pt>
                <c:pt idx="1">
                  <c:v>T02</c:v>
                </c:pt>
                <c:pt idx="2">
                  <c:v>T03</c:v>
                </c:pt>
                <c:pt idx="3">
                  <c:v>T04</c:v>
                </c:pt>
                <c:pt idx="4">
                  <c:v>T05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7.1</c:v>
                </c:pt>
                <c:pt idx="1">
                  <c:v>8.01</c:v>
                </c:pt>
                <c:pt idx="2">
                  <c:v>9.36</c:v>
                </c:pt>
                <c:pt idx="3">
                  <c:v>10.5</c:v>
                </c:pt>
                <c:pt idx="4">
                  <c:v>12.45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740-4CFA-971B-9F1DC88C19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1B1F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vi-VN"/>
  <c:roundedCorners val="1"/>
  <c:style val="2"/>
  <c:chart>
    <c:title>
      <c:tx>
        <c:rich>
          <a:bodyPr/>
          <a:lstStyle/>
          <a:p>
            <a:pPr>
              <a:defRPr sz="3000" b="0" i="0" u="none" strike="noStrike">
                <a:solidFill>
                  <a:srgbClr val="1B1F3B"/>
                </a:solidFill>
                <a:latin typeface="+mn-lt"/>
              </a:defRPr>
            </a:pPr>
            <a:r>
              <a:rPr lang="en-US" sz="3000" b="0" i="0" u="none" strike="noStrike">
                <a:solidFill>
                  <a:srgbClr val="1B1F3B"/>
                </a:solidFill>
                <a:latin typeface="+mn-lt"/>
              </a:rPr>
              <a:t>Chi phí tháng 05/2024 (tỷ VND)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 phí tháng 05/2024 (tỷ VND)</c:v>
                </c:pt>
              </c:strCache>
            </c:strRef>
          </c:tx>
          <c:spPr>
            <a:solidFill>
              <a:srgbClr val="3B2FA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0DF-496A-BEB4-0E3D56851F7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0DF-496A-BEB4-0E3D56851F7E}"/>
              </c:ext>
            </c:extLst>
          </c:dPt>
          <c:dPt>
            <c:idx val="2"/>
            <c:invertIfNegative val="0"/>
            <c:bubble3D val="0"/>
            <c:spPr>
              <a:solidFill>
                <a:srgbClr val="9AA0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0DF-496A-BEB4-0E3D56851F7E}"/>
              </c:ext>
            </c:extLst>
          </c:dPt>
          <c:dPt>
            <c:idx val="3"/>
            <c:invertIfNegative val="0"/>
            <c:bubble3D val="0"/>
            <c:spPr>
              <a:solidFill>
                <a:srgbClr val="F276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0DF-496A-BEB4-0E3D56851F7E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3000" b="1" i="0" u="none" strike="noStrike">
                    <a:solidFill>
                      <a:srgbClr val="1B1F3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Marketing</c:v>
                </c:pt>
                <c:pt idx="1">
                  <c:v>Vận hành</c:v>
                </c:pt>
                <c:pt idx="2">
                  <c:v>Khác</c:v>
                </c:pt>
                <c:pt idx="3">
                  <c:v>Phí ngân hàng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3.2</c:v>
                </c:pt>
                <c:pt idx="1">
                  <c:v>3.1</c:v>
                </c:pt>
                <c:pt idx="2">
                  <c:v>0.88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0DF-496A-BEB4-0E3D56851F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1B1F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vi-VN"/>
  <c:roundedCorners val="1"/>
  <c:style val="2"/>
  <c:chart>
    <c:title>
      <c:tx>
        <c:rich>
          <a:bodyPr/>
          <a:lstStyle/>
          <a:p>
            <a:pPr>
              <a:defRPr sz="3000" b="0" i="0" u="none" strike="noStrike">
                <a:solidFill>
                  <a:srgbClr val="1B1F3B"/>
                </a:solidFill>
                <a:latin typeface="+mn-lt"/>
              </a:defRPr>
            </a:pPr>
            <a:r>
              <a:rPr lang="en-US" sz="3000" b="0" i="0" u="none" strike="noStrike">
                <a:solidFill>
                  <a:srgbClr val="1B1F3B"/>
                </a:solidFill>
                <a:latin typeface="+mn-lt"/>
              </a:rPr>
              <a:t>Kết quả tháng 05/2024 (tỷ VND)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Kết quả tháng 05/2024 (tỷ VND)</c:v>
                </c:pt>
              </c:strCache>
            </c:strRef>
          </c:tx>
          <c:spPr>
            <a:solidFill>
              <a:srgbClr val="3B2FA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B2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DD4-49A7-AA61-AE8550F1632F}"/>
              </c:ext>
            </c:extLst>
          </c:dPt>
          <c:dPt>
            <c:idx val="1"/>
            <c:invertIfNegative val="0"/>
            <c:bubble3D val="0"/>
            <c:spPr>
              <a:solidFill>
                <a:srgbClr val="9AA0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DD4-49A7-AA61-AE8550F1632F}"/>
              </c:ext>
            </c:extLst>
          </c:dPt>
          <c:dPt>
            <c:idx val="2"/>
            <c:invertIfNegative val="0"/>
            <c:bubble3D val="0"/>
            <c:spPr>
              <a:solidFill>
                <a:srgbClr val="F276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DD4-49A7-AA61-AE8550F1632F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3000" b="1" i="0" u="none" strike="noStrike">
                    <a:solidFill>
                      <a:srgbClr val="1B1F3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Doanh thu</c:v>
                </c:pt>
                <c:pt idx="1">
                  <c:v>Chi phí</c:v>
                </c:pt>
                <c:pt idx="2">
                  <c:v>Lãi sau thuế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12.45</c:v>
                </c:pt>
                <c:pt idx="1">
                  <c:v>7.28</c:v>
                </c:pt>
                <c:pt idx="2">
                  <c:v>4.1399999999999997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DD4-49A7-AA61-AE8550F163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1B1F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vi-VN"/>
  <c:roundedCorners val="1"/>
  <c:style val="2"/>
  <c:chart>
    <c:title>
      <c:tx>
        <c:rich>
          <a:bodyPr/>
          <a:lstStyle/>
          <a:p>
            <a:pPr>
              <a:defRPr sz="3000" b="0" i="0" u="none" strike="noStrike">
                <a:solidFill>
                  <a:srgbClr val="1B1F3B"/>
                </a:solidFill>
                <a:latin typeface="+mn-lt"/>
              </a:defRPr>
            </a:pPr>
            <a:r>
              <a:rPr lang="en-US" sz="3000" b="0" i="0" u="none" strike="noStrike">
                <a:solidFill>
                  <a:srgbClr val="1B1F3B"/>
                </a:solidFill>
                <a:latin typeface="+mn-lt"/>
              </a:rPr>
              <a:t>Top 5 phí đối tác (triệu VND)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5 phí đối tác (triệu VND)</c:v>
                </c:pt>
              </c:strCache>
            </c:strRef>
          </c:tx>
          <c:spPr>
            <a:solidFill>
              <a:srgbClr val="F276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86C-4BD0-90F0-EB5B95148A7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86C-4BD0-90F0-EB5B95148A75}"/>
              </c:ext>
            </c:extLst>
          </c:dPt>
          <c:dPt>
            <c:idx val="2"/>
            <c:invertIfNegative val="0"/>
            <c:bubble3D val="0"/>
            <c:spPr>
              <a:solidFill>
                <a:srgbClr val="3B2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86C-4BD0-90F0-EB5B95148A75}"/>
              </c:ext>
            </c:extLst>
          </c:dPt>
          <c:dPt>
            <c:idx val="3"/>
            <c:invertIfNegative val="0"/>
            <c:bubble3D val="0"/>
            <c:spPr>
              <a:solidFill>
                <a:srgbClr val="3B2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86C-4BD0-90F0-EB5B95148A75}"/>
              </c:ext>
            </c:extLst>
          </c:dPt>
          <c:dPt>
            <c:idx val="4"/>
            <c:invertIfNegative val="0"/>
            <c:bubble3D val="0"/>
            <c:spPr>
              <a:solidFill>
                <a:srgbClr val="3B2F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86C-4BD0-90F0-EB5B95148A75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3000" b="1" i="0" u="none" strike="noStrike">
                    <a:solidFill>
                      <a:srgbClr val="1B1F3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VCB</c:v>
                </c:pt>
                <c:pt idx="1">
                  <c:v>BIDV</c:v>
                </c:pt>
                <c:pt idx="2">
                  <c:v>CTG</c:v>
                </c:pt>
                <c:pt idx="3">
                  <c:v>TCB</c:v>
                </c:pt>
                <c:pt idx="4">
                  <c:v>MBB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21.29</c:v>
                </c:pt>
                <c:pt idx="1">
                  <c:v>15.6</c:v>
                </c:pt>
                <c:pt idx="2">
                  <c:v>12.78</c:v>
                </c:pt>
                <c:pt idx="3">
                  <c:v>10.87</c:v>
                </c:pt>
                <c:pt idx="4">
                  <c:v>10.61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86C-4BD0-90F0-EB5B95148A7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3000" b="0" i="0" u="none" strike="noStrike">
                <a:solidFill>
                  <a:srgbClr val="1B1F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7909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đầu: kết luận của báo cáo là PayKX có lãi sau thuế 4,14 tỷ VND, doanh thu tăng 18,6% so với tháng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Doanh thu T04 là 10,50 tỷ VND, T05 là 12,45 tỷ VND. Mức tăng 18,6% là cao nhất trong 5 tháng.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Marketing 3,20 và vận hành 3,10, tổng 6,30 trên 7,28 tỷ VND. Phí ngân hàng đối tác là 0,10 tỷ VND, lấy từ bảng tổng hợp phí trong file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Lợi nhuận trước thuế 5,17 tỷ VND, thuế TNDN 20% là 1,03 tỷ VND, lợi nhuận sau thuế 4,14 tỷ VND.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phí 10 ngân hàng là 103.278.682 VND. Vietcombank 21,29 triệu và BIDV 15,60 triệu, cộng lại 36%.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48056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dirty="0">
                <a:solidFill>
                  <a:schemeClr val="accent6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òng tròn lớn"/>
          <p:cNvSpPr/>
          <p:nvPr/>
        </p:nvSpPr>
        <p:spPr>
          <a:xfrm>
            <a:off x="8412480" y="1097280"/>
            <a:ext cx="4206240" cy="4206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Vòng tròn nhỏ"/>
          <p:cNvSpPr/>
          <p:nvPr/>
        </p:nvSpPr>
        <p:spPr>
          <a:xfrm>
            <a:off x="9875520" y="3931920"/>
            <a:ext cx="2194560" cy="21945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ên thương hiệu"/>
          <p:cNvSpPr txBox="1"/>
          <p:nvPr/>
        </p:nvSpPr>
        <p:spPr>
          <a:xfrm>
            <a:off x="8915400" y="26517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PayKX</a:t>
            </a:r>
            <a:endParaRPr lang="en-US" sz="54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PayKX lãi sau thuế 4,14 tỷ VND trong tháng 05/2024</a:t>
            </a:r>
            <a:endParaRPr lang="en-US" sz="4400" dirty="0"/>
          </a:p>
        </p:txBody>
      </p:sp>
      <p:sp>
        <p:nvSpPr>
          <p:cNvPr id="6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48056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chemeClr val="accent6"/>
                </a:solidFill>
              </a:rPr>
              <a:t>Báo cáo lỗ lãi tháng 05/2024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Doanh thu tăng 18,6% so với tháng 4 và đạt 12,45 tỷ VND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783080"/>
          <a:ext cx="78638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ăng trưởng card"/>
          <p:cNvSpPr/>
          <p:nvPr/>
        </p:nvSpPr>
        <p:spPr>
          <a:xfrm>
            <a:off x="8686800" y="2148840"/>
            <a:ext cx="2971800" cy="338328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5" name="Tăng trưởng số"/>
          <p:cNvSpPr txBox="1"/>
          <p:nvPr/>
        </p:nvSpPr>
        <p:spPr>
          <a:xfrm>
            <a:off x="8869680" y="24688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+18,6%</a:t>
            </a:r>
            <a:endParaRPr lang="en-US" sz="5400" dirty="0"/>
          </a:p>
        </p:txBody>
      </p:sp>
      <p:sp>
        <p:nvSpPr>
          <p:cNvPr id="6" name="Tăng trưởng nhãn"/>
          <p:cNvSpPr txBox="1"/>
          <p:nvPr/>
        </p:nvSpPr>
        <p:spPr>
          <a:xfrm>
            <a:off x="8869680" y="365760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chemeClr val="tx1"/>
                </a:solidFill>
              </a:rPr>
              <a:t>so với tháng 4 năm 2024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Marketing và vận hành chiếm 87% tổng chi phí 7,28 </a:t>
            </a:r>
            <a:r>
              <a:rPr lang="en-US" sz="3400" b="1" dirty="0" err="1">
                <a:solidFill>
                  <a:schemeClr val="tx2"/>
                </a:solidFill>
              </a:rPr>
              <a:t>tỷ</a:t>
            </a:r>
            <a:r>
              <a:rPr lang="en-US" sz="3400" b="1" dirty="0">
                <a:solidFill>
                  <a:schemeClr val="tx2"/>
                </a:solidFill>
              </a:rPr>
              <a:t> VND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783080"/>
          <a:ext cx="110642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PayKX lãi sau thuế 4,14 tỷ VND, biên lợi nhuận đạt 33%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783080"/>
          <a:ext cx="78638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Biên lợi nhuận card"/>
          <p:cNvSpPr/>
          <p:nvPr/>
        </p:nvSpPr>
        <p:spPr>
          <a:xfrm>
            <a:off x="8686800" y="2148840"/>
            <a:ext cx="2971800" cy="338328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5" name="Biên lợi nhuận số"/>
          <p:cNvSpPr txBox="1"/>
          <p:nvPr/>
        </p:nvSpPr>
        <p:spPr>
          <a:xfrm>
            <a:off x="8869680" y="24688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33%</a:t>
            </a:r>
            <a:endParaRPr lang="en-US" sz="5400" dirty="0"/>
          </a:p>
        </p:txBody>
      </p:sp>
      <p:sp>
        <p:nvSpPr>
          <p:cNvPr id="6" name="Biên lợi nhuận nhãn"/>
          <p:cNvSpPr txBox="1"/>
          <p:nvPr/>
        </p:nvSpPr>
        <p:spPr>
          <a:xfrm>
            <a:off x="8869680" y="365760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chemeClr val="tx1"/>
                </a:solidFill>
              </a:rPr>
              <a:t>biên lợi nhuận sau thuế, thuế suất 20%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Vietcombank và BIDV chiếm 36% phí đối tác ngân hàng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783080"/>
          <a:ext cx="78638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ổng phí card"/>
          <p:cNvSpPr/>
          <p:nvPr/>
        </p:nvSpPr>
        <p:spPr>
          <a:xfrm>
            <a:off x="8686800" y="2148840"/>
            <a:ext cx="2971800" cy="338328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5" name="Tổng phí số"/>
          <p:cNvSpPr txBox="1"/>
          <p:nvPr/>
        </p:nvSpPr>
        <p:spPr>
          <a:xfrm>
            <a:off x="8869680" y="24688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tx2"/>
                </a:solidFill>
              </a:rPr>
              <a:t>103,28</a:t>
            </a:r>
            <a:endParaRPr lang="en-US" sz="5400" dirty="0"/>
          </a:p>
        </p:txBody>
      </p:sp>
      <p:sp>
        <p:nvSpPr>
          <p:cNvPr id="6" name="Tổng phí nhãn"/>
          <p:cNvSpPr txBox="1"/>
          <p:nvPr/>
        </p:nvSpPr>
        <p:spPr>
          <a:xfrm>
            <a:off x="8869680" y="3657600"/>
            <a:ext cx="2606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chemeClr val="tx1"/>
                </a:solidFill>
              </a:rPr>
              <a:t>triệu VND tổng phí của 10 ngân hàng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yKX">
  <a:themeElements>
    <a:clrScheme name="PayKX">
      <a:dk1>
        <a:srgbClr val="1B1F3B"/>
      </a:dk1>
      <a:lt1>
        <a:srgbClr val="FFFFFF"/>
      </a:lt1>
      <a:dk2>
        <a:srgbClr val="3B2FA0"/>
      </a:dk2>
      <a:lt2>
        <a:srgbClr val="EEF0FA"/>
      </a:lt2>
      <a:accent1>
        <a:srgbClr val="3B2FA0"/>
      </a:accent1>
      <a:accent2>
        <a:srgbClr val="F2762E"/>
      </a:accent2>
      <a:accent3>
        <a:srgbClr val="9AA0B8"/>
      </a:accent3>
      <a:accent4>
        <a:srgbClr val="7B6FE0"/>
      </a:accent4>
      <a:accent5>
        <a:srgbClr val="1E7B34"/>
      </a:accent5>
      <a:accent6>
        <a:srgbClr val="B9B4EB"/>
      </a:accent6>
      <a:hlink>
        <a:srgbClr val="3B2FA0"/>
      </a:hlink>
      <a:folHlink>
        <a:srgbClr val="7B6FE0"/>
      </a:folHlink>
    </a:clrScheme>
    <a:fontScheme name="PayKX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269</Words>
  <Application>Microsoft Office PowerPoint</Application>
  <PresentationFormat>Màn hình rộng</PresentationFormat>
  <Paragraphs>27</Paragraphs>
  <Slides>5</Slides>
  <Notes>5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1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5</vt:i4>
      </vt:variant>
    </vt:vector>
  </HeadingPairs>
  <TitlesOfParts>
    <vt:vector size="7" baseType="lpstr">
      <vt:lpstr>Arial</vt:lpstr>
      <vt:lpstr>PayKX</vt:lpstr>
      <vt:lpstr>PayKX lãi sau thuế 4,14 tỷ VND trong tháng 05/2024</vt:lpstr>
      <vt:lpstr>Doanh thu tăng 18,6% so với tháng 4 và đạt 12,45 tỷ VND</vt:lpstr>
      <vt:lpstr>Marketing và vận hành chiếm 87% tổng chi phí 7,28 tỷ VND</vt:lpstr>
      <vt:lpstr>PayKX lãi sau thuế 4,14 tỷ VND, biên lợi nhuận đạt 33%</vt:lpstr>
      <vt:lpstr>Vietcombank và BIDV chiếm 36% phí đối tác ngân hàng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lỗ lãi tháng 05/2024</dc:title>
  <dc:subject>PptxGenJS Presentation</dc:subject>
  <dc:creator>PayKX</dc:creator>
  <cp:lastModifiedBy>Khiêm Lê</cp:lastModifiedBy>
  <cp:revision>1</cp:revision>
  <dcterms:created xsi:type="dcterms:W3CDTF">2026-10-26T11:11:36Z</dcterms:created>
  <dcterms:modified xsi:type="dcterms:W3CDTF">2026-10-26T11:25:17Z</dcterms:modified>
</cp:coreProperties>
</file>